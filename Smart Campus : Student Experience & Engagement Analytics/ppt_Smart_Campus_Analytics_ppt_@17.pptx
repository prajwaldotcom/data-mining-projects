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73" r:id="rId10"/>
    <p:sldId id="263" r:id="rId11"/>
    <p:sldId id="264" r:id="rId12"/>
    <p:sldId id="265" r:id="rId13"/>
    <p:sldId id="266" r:id="rId14"/>
    <p:sldId id="267" r:id="rId15"/>
    <p:sldId id="274" r:id="rId16"/>
    <p:sldId id="268" r:id="rId17"/>
    <p:sldId id="269" r:id="rId18"/>
    <p:sldId id="270" r:id="rId19"/>
    <p:sldId id="271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86" y="-8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556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563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NZB3AxbaDQN13wNHlZLhKXA65r91yew_1NgBmGygBwM/edit?resourcekey=&amp;gid=1103731540#gid=1103731540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jwaldotcom/Data-Mining-projects/tree/main/Smart%20Campus%20%3A%20Student%20Experience%20%26%20Engagement%20Analytics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926080" cy="292608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AND BIG DATA ANALYTICS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Campus Analytics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Approach to Student Experience &amp; Engagement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59" y="4480560"/>
            <a:ext cx="683747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Lavanya E, Dechamma KP, Bhoomika YD, L Prajwal, Shashank Rao, Ganesh 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870345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Semester:  MCA(Data Science), 3</a:t>
            </a:r>
            <a:r>
              <a:rPr lang="en-US" sz="1400" b="1" baseline="30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</a:t>
            </a: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Sem 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952" y="53529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Nagasri P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Campus Analytics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07008" y="173736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67919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07008" y="263347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57530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75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07008" y="3529584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447141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07008" y="4425696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5367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367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07008" y="532180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989320" y="17830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59893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47688" y="173736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989320" y="267919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5989320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47688" y="263347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Used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989320" y="357530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5989320" y="3575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47688" y="3529584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5989320" y="447141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598932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47688" y="4425696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5989320" y="5367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5989320" y="5367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47688" y="532180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Future Scope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Campus Analytics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01 · INTRODUCTION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882869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F2D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Background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89275"/>
            <a:ext cx="10220785" cy="466344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Universities provide many facilities that influence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satisfaction and engagement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have different experiences with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classrooms, faculty, Wi-Fi, cafeteria, library, clubs, safety and transportation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feedback makes it difficult to identify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problems and important factors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Mining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discover patterns and group students based on their experiences.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student satisfaction groups, while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important satisfaction factors.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Happiness Index (0–100)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interactive dashboard provide clear insights.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help the university identify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areas and plan improvements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0990" y="122577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0990" y="10799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🎓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5669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20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 / 16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Campus Analytics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D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Scope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92024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Survey Data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145 student responses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covering 11 campus facility dimensions, collected through Google Forms.</a:t>
            </a:r>
            <a:b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responses from different academic departments and satisfaction ratings from 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1–5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94960" cy="192024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20116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178040" y="1965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Unsupervised Learning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92240" y="26060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group students with similar satisfaction patterns.</a:t>
            </a:r>
            <a:b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groups are interpreted as 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Low, Moderate, and High Satisfaction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94960" cy="192024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508760" y="4114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Supervised Learning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47548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classifier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predicts 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Satisfied / Not Satisfied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students.</a:t>
            </a:r>
            <a:b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identifies the 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factors influencing the classification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394960" cy="192024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4160520"/>
            <a:ext cx="502920" cy="502920"/>
          </a:xfrm>
          <a:prstGeom prst="ellipse">
            <a:avLst/>
          </a:prstGeom>
          <a:solidFill>
            <a:srgbClr val="F9A03F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178040" y="4114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Interactive Delivery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37960" y="47320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Gradio dashboard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presents KPIs, graphs, clusters, model results, and action plans.</a:t>
            </a:r>
            <a:b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also enter their ratings to view their 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Happiness Index and satisfaction status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 / 16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Campus Analytics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02 · PROBLEM STATEMENT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F2D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Existing Problem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Universities gather feedback but rarely act on it systematically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1587587"/>
            <a:ext cx="11023250" cy="4173133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📋 Buried in Spreadsheets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Survey data is stored in spreadsheets, making it difficult to understand and analyze.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⏳ Slow Manual Review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Manually reviewing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145+ responses across 11 facility dimensions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takes a lot of time and may give inconsistent results.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👥 No Student Segmentation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Students cannot be easily grouped into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Low, Moderate, and High Satisfaction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categories.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📊 Limited Visualization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Raw survey data does not provide an easy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view of satisfaction, trends, clusters, and major concerns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💡 Difficult to Prioritize Improvements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proper analysis, administrators may not know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facilities need improvement first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 / 16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Campus Analytics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D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Objectives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325880" y="1847088"/>
            <a:ext cx="9875520" cy="45720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184708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Quantify a single Happiness Index (0-100) per student from 11 facility ratings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670048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70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325880" y="2688336"/>
            <a:ext cx="9875520" cy="45720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2688336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Group students into meaningful satisfaction clusters using K-Means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3511296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112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325880" y="3529584"/>
            <a:ext cx="9875520" cy="45720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529584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Classify students as Satisfied / Not Satisfied and rank which facilities drive that outcome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4352544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525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325880" y="4370832"/>
            <a:ext cx="9875520" cy="45720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4370832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Deliver an interactive dashboard so staff can filter results by department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" y="519379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193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325880" y="5212080"/>
            <a:ext cx="9875520" cy="45720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23" name="Text 21"/>
          <p:cNvSpPr/>
          <p:nvPr/>
        </p:nvSpPr>
        <p:spPr>
          <a:xfrm>
            <a:off x="1508760" y="521208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Give students a self-check tool with a personalized recommendation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 / 16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Campus Analytics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03 · ABOUT THE DATA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755" y="827706"/>
            <a:ext cx="10515600" cy="529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D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Google Forms Survey Dataset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8755" y="1506473"/>
            <a:ext cx="1540851" cy="1418271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-443484" y="1663109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145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-443484" y="2322576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4F6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Student Responses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51047" y="1506474"/>
            <a:ext cx="1504130" cy="1417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1115648" y="1722006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18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07679" y="2322576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4F6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Survey Questions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04399" y="1506474"/>
            <a:ext cx="1497656" cy="1417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006340" y="1536192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081797" y="2389104"/>
            <a:ext cx="15830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4F6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Rated Facility Dimensions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55377" y="1507425"/>
            <a:ext cx="1371803" cy="1417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4137674" y="1722006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6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238258" y="2401974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4F6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Programs Covered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3339021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Collection &amp; Cleaning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01436" y="3739896"/>
            <a:ext cx="6223747" cy="2018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Responses gathered live via a Google Form, exported to Excel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Fully empty rows / columns dropped; duplicate submissions removed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Column headers stripped of whitespace for consistent matching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 satisfaction questions mapped to short facility labels (Wi-Fi, Library, Safety…)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Missing numeric ratings imputed with the column median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021568" y="424967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Campus Analytics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7"/>
          <p:cNvSpPr/>
          <p:nvPr/>
        </p:nvSpPr>
        <p:spPr>
          <a:xfrm>
            <a:off x="6780276" y="134645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kern="0" spc="100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FACTORS ANALYZED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8"/>
          <p:cNvSpPr/>
          <p:nvPr/>
        </p:nvSpPr>
        <p:spPr>
          <a:xfrm>
            <a:off x="6780276" y="1757934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9"/>
          <p:cNvSpPr/>
          <p:nvPr/>
        </p:nvSpPr>
        <p:spPr>
          <a:xfrm>
            <a:off x="6908292" y="1904238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10"/>
          <p:cNvSpPr/>
          <p:nvPr/>
        </p:nvSpPr>
        <p:spPr>
          <a:xfrm>
            <a:off x="6908292" y="1904238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11"/>
          <p:cNvSpPr/>
          <p:nvPr/>
        </p:nvSpPr>
        <p:spPr>
          <a:xfrm>
            <a:off x="7283196" y="1757934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Classrooms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12"/>
          <p:cNvSpPr/>
          <p:nvPr/>
        </p:nvSpPr>
        <p:spPr>
          <a:xfrm>
            <a:off x="9203436" y="1757934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13"/>
          <p:cNvSpPr/>
          <p:nvPr/>
        </p:nvSpPr>
        <p:spPr>
          <a:xfrm>
            <a:off x="9331452" y="1904238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14"/>
          <p:cNvSpPr/>
          <p:nvPr/>
        </p:nvSpPr>
        <p:spPr>
          <a:xfrm>
            <a:off x="9331452" y="1904238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15"/>
          <p:cNvSpPr/>
          <p:nvPr/>
        </p:nvSpPr>
        <p:spPr>
          <a:xfrm>
            <a:off x="9706356" y="1757934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Faculty Interaction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16"/>
          <p:cNvSpPr/>
          <p:nvPr/>
        </p:nvSpPr>
        <p:spPr>
          <a:xfrm>
            <a:off x="6780276" y="2462022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17"/>
          <p:cNvSpPr/>
          <p:nvPr/>
        </p:nvSpPr>
        <p:spPr>
          <a:xfrm>
            <a:off x="6908292" y="2608326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18"/>
          <p:cNvSpPr/>
          <p:nvPr/>
        </p:nvSpPr>
        <p:spPr>
          <a:xfrm>
            <a:off x="6908292" y="2608326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19"/>
          <p:cNvSpPr/>
          <p:nvPr/>
        </p:nvSpPr>
        <p:spPr>
          <a:xfrm>
            <a:off x="7283196" y="2462022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Wi-Fi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20"/>
          <p:cNvSpPr/>
          <p:nvPr/>
        </p:nvSpPr>
        <p:spPr>
          <a:xfrm>
            <a:off x="9203436" y="2462022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21"/>
          <p:cNvSpPr/>
          <p:nvPr/>
        </p:nvSpPr>
        <p:spPr>
          <a:xfrm>
            <a:off x="9331452" y="2608326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22"/>
          <p:cNvSpPr/>
          <p:nvPr/>
        </p:nvSpPr>
        <p:spPr>
          <a:xfrm>
            <a:off x="9331452" y="2608326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23"/>
          <p:cNvSpPr/>
          <p:nvPr/>
        </p:nvSpPr>
        <p:spPr>
          <a:xfrm>
            <a:off x="9706356" y="2462022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Cafeteria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24"/>
          <p:cNvSpPr/>
          <p:nvPr/>
        </p:nvSpPr>
        <p:spPr>
          <a:xfrm>
            <a:off x="6780276" y="3166110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25"/>
          <p:cNvSpPr/>
          <p:nvPr/>
        </p:nvSpPr>
        <p:spPr>
          <a:xfrm>
            <a:off x="6908292" y="3312414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26"/>
          <p:cNvSpPr/>
          <p:nvPr/>
        </p:nvSpPr>
        <p:spPr>
          <a:xfrm>
            <a:off x="6908292" y="3312414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27"/>
          <p:cNvSpPr/>
          <p:nvPr/>
        </p:nvSpPr>
        <p:spPr>
          <a:xfrm>
            <a:off x="7283196" y="3166110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Library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28"/>
          <p:cNvSpPr/>
          <p:nvPr/>
        </p:nvSpPr>
        <p:spPr>
          <a:xfrm>
            <a:off x="9203436" y="3166110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Shape 29"/>
          <p:cNvSpPr/>
          <p:nvPr/>
        </p:nvSpPr>
        <p:spPr>
          <a:xfrm>
            <a:off x="9331452" y="3312414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30"/>
          <p:cNvSpPr/>
          <p:nvPr/>
        </p:nvSpPr>
        <p:spPr>
          <a:xfrm>
            <a:off x="9331452" y="3312414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31"/>
          <p:cNvSpPr/>
          <p:nvPr/>
        </p:nvSpPr>
        <p:spPr>
          <a:xfrm>
            <a:off x="9706356" y="3166110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Sports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32"/>
          <p:cNvSpPr/>
          <p:nvPr/>
        </p:nvSpPr>
        <p:spPr>
          <a:xfrm>
            <a:off x="6780276" y="3870198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Shape 33"/>
          <p:cNvSpPr/>
          <p:nvPr/>
        </p:nvSpPr>
        <p:spPr>
          <a:xfrm>
            <a:off x="6908292" y="4016502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34"/>
          <p:cNvSpPr/>
          <p:nvPr/>
        </p:nvSpPr>
        <p:spPr>
          <a:xfrm>
            <a:off x="6908292" y="4016502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35"/>
          <p:cNvSpPr/>
          <p:nvPr/>
        </p:nvSpPr>
        <p:spPr>
          <a:xfrm>
            <a:off x="7283196" y="3870198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Clubs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hape 36"/>
          <p:cNvSpPr/>
          <p:nvPr/>
        </p:nvSpPr>
        <p:spPr>
          <a:xfrm>
            <a:off x="9203436" y="3870198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Shape 37"/>
          <p:cNvSpPr/>
          <p:nvPr/>
        </p:nvSpPr>
        <p:spPr>
          <a:xfrm>
            <a:off x="9331452" y="4016502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38"/>
          <p:cNvSpPr/>
          <p:nvPr/>
        </p:nvSpPr>
        <p:spPr>
          <a:xfrm>
            <a:off x="9331452" y="4016502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39"/>
          <p:cNvSpPr/>
          <p:nvPr/>
        </p:nvSpPr>
        <p:spPr>
          <a:xfrm>
            <a:off x="9706356" y="3870198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Technical Events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hape 40"/>
          <p:cNvSpPr/>
          <p:nvPr/>
        </p:nvSpPr>
        <p:spPr>
          <a:xfrm>
            <a:off x="6780276" y="4574286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Shape 41"/>
          <p:cNvSpPr/>
          <p:nvPr/>
        </p:nvSpPr>
        <p:spPr>
          <a:xfrm>
            <a:off x="6908292" y="4720590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 42"/>
          <p:cNvSpPr/>
          <p:nvPr/>
        </p:nvSpPr>
        <p:spPr>
          <a:xfrm>
            <a:off x="6908292" y="4720590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 43"/>
          <p:cNvSpPr/>
          <p:nvPr/>
        </p:nvSpPr>
        <p:spPr>
          <a:xfrm>
            <a:off x="7283196" y="4574286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Cleanliness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Shape 44"/>
          <p:cNvSpPr/>
          <p:nvPr/>
        </p:nvSpPr>
        <p:spPr>
          <a:xfrm>
            <a:off x="9203436" y="4574286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Shape 45"/>
          <p:cNvSpPr/>
          <p:nvPr/>
        </p:nvSpPr>
        <p:spPr>
          <a:xfrm>
            <a:off x="9331452" y="4720590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 46"/>
          <p:cNvSpPr/>
          <p:nvPr/>
        </p:nvSpPr>
        <p:spPr>
          <a:xfrm>
            <a:off x="9331452" y="4720590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 47"/>
          <p:cNvSpPr/>
          <p:nvPr/>
        </p:nvSpPr>
        <p:spPr>
          <a:xfrm>
            <a:off x="9706356" y="4574286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Safety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Shape 48"/>
          <p:cNvSpPr/>
          <p:nvPr/>
        </p:nvSpPr>
        <p:spPr>
          <a:xfrm>
            <a:off x="6780276" y="5278374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Shape 49"/>
          <p:cNvSpPr/>
          <p:nvPr/>
        </p:nvSpPr>
        <p:spPr>
          <a:xfrm>
            <a:off x="6908292" y="5424678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 50"/>
          <p:cNvSpPr/>
          <p:nvPr/>
        </p:nvSpPr>
        <p:spPr>
          <a:xfrm>
            <a:off x="6908292" y="5424678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 51"/>
          <p:cNvSpPr/>
          <p:nvPr/>
        </p:nvSpPr>
        <p:spPr>
          <a:xfrm>
            <a:off x="7283196" y="5278374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Transportation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3729392" y="1740087"/>
            <a:ext cx="35432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509025"/>
              </p:ext>
            </p:extLst>
          </p:nvPr>
        </p:nvGraphicFramePr>
        <p:xfrm>
          <a:off x="736598" y="1229357"/>
          <a:ext cx="10515604" cy="4876803"/>
        </p:xfrm>
        <a:graphic>
          <a:graphicData uri="http://schemas.openxmlformats.org/drawingml/2006/table">
            <a:tbl>
              <a:tblPr/>
              <a:tblGrid>
                <a:gridCol w="95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939323">
                <a:tc>
                  <a:txBody>
                    <a:bodyPr/>
                    <a:lstStyle/>
                    <a:p>
                      <a:pPr rtl="0" fontAlgn="ctr"/>
                      <a:r>
                        <a:rPr lang="en-GB" sz="800" b="0" dirty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Which program/department are you currently studying? 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5B3F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800" b="0" dirty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Which semester are you currently studying? 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800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How satisfied are you with the quality and availability of classroom facilities? 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800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How satisfied are you with faculty interaction, guidance, and support? 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800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How satisfied are you with the availability and quality of campus Wi-Fi? 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800" b="0" dirty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How satisfied are you with cafeteria food, cleanliness, and service? 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800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How satisfied are you with library facilities, resources, and study environment? 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800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How satisfied are you with sports facilities and opportunities? 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800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How satisfied are you with student clubs and extracurricular activities? 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800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How satisfied are you with technical events, workshops, seminars, and hackathons? 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800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How satisfied are you with campus cleanliness and maintenance? 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B3F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640">
                <a:tc>
                  <a:txBody>
                    <a:bodyPr/>
                    <a:lstStyle/>
                    <a:p>
                      <a:pPr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MCA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Semester 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640">
                <a:tc>
                  <a:txBody>
                    <a:bodyPr/>
                    <a:lstStyle/>
                    <a:p>
                      <a:pPr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MCA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Semester 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640">
                <a:tc>
                  <a:txBody>
                    <a:bodyPr/>
                    <a:lstStyle/>
                    <a:p>
                      <a:pPr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MCA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800" b="0" dirty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Semester 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1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1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640">
                <a:tc>
                  <a:txBody>
                    <a:bodyPr/>
                    <a:lstStyle/>
                    <a:p>
                      <a:pPr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MCA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Semester 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640">
                <a:tc>
                  <a:txBody>
                    <a:bodyPr/>
                    <a:lstStyle/>
                    <a:p>
                      <a:pPr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MSc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800" b="0" dirty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Semester 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1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640">
                <a:tc>
                  <a:txBody>
                    <a:bodyPr/>
                    <a:lstStyle/>
                    <a:p>
                      <a:pPr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MCA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Semester 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 dirty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640">
                <a:tc>
                  <a:txBody>
                    <a:bodyPr/>
                    <a:lstStyle/>
                    <a:p>
                      <a:pPr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M.Tech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Semester 1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1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800" b="0" dirty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25492" marR="25492" marT="6373" marB="637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5158" y="534908"/>
            <a:ext cx="48107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1F2D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Google Forms Survey Dataset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787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747791"/>
              </p:ext>
            </p:extLst>
          </p:nvPr>
        </p:nvGraphicFramePr>
        <p:xfrm>
          <a:off x="589282" y="660400"/>
          <a:ext cx="11074397" cy="5524966"/>
        </p:xfrm>
        <a:graphic>
          <a:graphicData uri="http://schemas.openxmlformats.org/drawingml/2006/table">
            <a:tbl>
              <a:tblPr/>
              <a:tblGrid>
                <a:gridCol w="1847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7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7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77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54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77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182159">
                <a:tc>
                  <a:txBody>
                    <a:bodyPr/>
                    <a:lstStyle/>
                    <a:p>
                      <a:pPr rtl="0" fontAlgn="ctr"/>
                      <a:r>
                        <a:rPr lang="en-GB" sz="1200" b="0" dirty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How satisfied are you with safety and security on campus? 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5B3F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1200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How satisfied are you with university transportation facilities? 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1200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How actively do you participate in campus activities, clubs, events, or workshops? 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1200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Overall, how satisfied are you with your experience at the university? 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1200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Which areas need the most improvement? 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1200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What is one improvement you would like the university to make? 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910"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Cafeteria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All good 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910"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 dirty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1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Classroom facilities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Everything Good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9535"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1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Classroom facilities, Wi-Fi, Sports, Clubs, Cleanliness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Classroom facilities and wifi 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2159"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1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Classroom facilities, Faculty interaction, Wi-Fi, Cafeteria, Cleanliness, Transportation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Fixing the fans, internet and light 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223"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1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Faculty interaction, Wi-Fi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Food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223"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Classroom facilities, Faculty interaction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Nothing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50847"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GB" sz="1200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Wi-Fi, Library, Clubs, Technical events, Safety, Transportation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1200" b="0" dirty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Placements </a:t>
                      </a:r>
                    </a:p>
                  </a:txBody>
                  <a:tcPr marL="40478" marR="40478" marT="10119" marB="1011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42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54680" y="6395700"/>
            <a:ext cx="76767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Google Form</a:t>
            </a:r>
            <a:r>
              <a:rPr lang="en-GB" dirty="0"/>
              <a:t> Link</a:t>
            </a:r>
            <a:r>
              <a:rPr lang="en-IN" dirty="0"/>
              <a:t> of Survey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257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 · METHODOLOGY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From Raw Survey to Insight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56616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2402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30632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Collection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145 responses gathered through a Google Form and exported as an Excel file.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154680" y="33832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➜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410712" y="1920240"/>
            <a:ext cx="2606040" cy="356616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11" name="Shape 9"/>
          <p:cNvSpPr/>
          <p:nvPr/>
        </p:nvSpPr>
        <p:spPr>
          <a:xfrm>
            <a:off x="4393692" y="22402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393692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547872" y="30632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Preprocessing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593592" y="356616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Drop empty rows/cols, remove duplicates, map questions to facility labels, impute missing values.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16752" y="33832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➜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72784" y="1920240"/>
            <a:ext cx="2606040" cy="356616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255764" y="224028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7255764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9944" y="30632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Modeling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55664" y="356616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Happiness Index calculated; K-Means clustering (k=3) and a Decision Tree classifier trained.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878824" y="33832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➜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134856" y="1920240"/>
            <a:ext cx="2606040" cy="356616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17836" y="2240280"/>
            <a:ext cx="640080" cy="640080"/>
          </a:xfrm>
          <a:prstGeom prst="ellipse">
            <a:avLst/>
          </a:prstGeom>
          <a:solidFill>
            <a:srgbClr val="F9A03F"/>
          </a:solidFill>
          <a:ln/>
        </p:spPr>
      </p:sp>
      <p:sp>
        <p:nvSpPr>
          <p:cNvPr id="24" name="Text 22"/>
          <p:cNvSpPr/>
          <p:nvPr/>
        </p:nvSpPr>
        <p:spPr>
          <a:xfrm>
            <a:off x="10117836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272016" y="30632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Evaluation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317736" y="356616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Cluster profiles reviewed; classifier accuracy and feature importance measured on a held-out test set.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 / 16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Campus Analytics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8320" y="314325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24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05 · SYSTEM ARCHITECTURE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6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 / 16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Campus Analytics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3"/>
          <p:cNvSpPr/>
          <p:nvPr/>
        </p:nvSpPr>
        <p:spPr>
          <a:xfrm>
            <a:off x="457200" y="16002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28" name="Text 4"/>
          <p:cNvSpPr/>
          <p:nvPr/>
        </p:nvSpPr>
        <p:spPr>
          <a:xfrm>
            <a:off x="457200" y="160020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Survey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5"/>
          <p:cNvSpPr/>
          <p:nvPr/>
        </p:nvSpPr>
        <p:spPr>
          <a:xfrm>
            <a:off x="2350008" y="1600200"/>
            <a:ext cx="182880" cy="7772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E8A3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▶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6"/>
          <p:cNvSpPr/>
          <p:nvPr/>
        </p:nvSpPr>
        <p:spPr>
          <a:xfrm>
            <a:off x="2551176" y="16002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31" name="Text 7"/>
          <p:cNvSpPr/>
          <p:nvPr/>
        </p:nvSpPr>
        <p:spPr>
          <a:xfrm>
            <a:off x="2551176" y="160020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Excel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Dataset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8"/>
          <p:cNvSpPr/>
          <p:nvPr/>
        </p:nvSpPr>
        <p:spPr>
          <a:xfrm>
            <a:off x="4443984" y="1600200"/>
            <a:ext cx="182880" cy="7772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E8A3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▶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9"/>
          <p:cNvSpPr/>
          <p:nvPr/>
        </p:nvSpPr>
        <p:spPr>
          <a:xfrm>
            <a:off x="4645152" y="16002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34" name="Text 10"/>
          <p:cNvSpPr/>
          <p:nvPr/>
        </p:nvSpPr>
        <p:spPr>
          <a:xfrm>
            <a:off x="4645152" y="160020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Cleaning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11"/>
          <p:cNvSpPr/>
          <p:nvPr/>
        </p:nvSpPr>
        <p:spPr>
          <a:xfrm>
            <a:off x="6537960" y="1600200"/>
            <a:ext cx="182880" cy="7772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E8A3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▶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12"/>
          <p:cNvSpPr/>
          <p:nvPr/>
        </p:nvSpPr>
        <p:spPr>
          <a:xfrm>
            <a:off x="6739128" y="16002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37" name="Text 13"/>
          <p:cNvSpPr/>
          <p:nvPr/>
        </p:nvSpPr>
        <p:spPr>
          <a:xfrm>
            <a:off x="6739128" y="160020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Selection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14"/>
          <p:cNvSpPr/>
          <p:nvPr/>
        </p:nvSpPr>
        <p:spPr>
          <a:xfrm>
            <a:off x="8631936" y="1600200"/>
            <a:ext cx="182880" cy="7772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E8A3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▶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15"/>
          <p:cNvSpPr/>
          <p:nvPr/>
        </p:nvSpPr>
        <p:spPr>
          <a:xfrm>
            <a:off x="8833104" y="16002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40" name="Text 16"/>
          <p:cNvSpPr/>
          <p:nvPr/>
        </p:nvSpPr>
        <p:spPr>
          <a:xfrm>
            <a:off x="8833104" y="160020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Exploratory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Analysis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17"/>
          <p:cNvSpPr/>
          <p:nvPr/>
        </p:nvSpPr>
        <p:spPr>
          <a:xfrm>
            <a:off x="457200" y="2395728"/>
            <a:ext cx="11247120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▼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18"/>
          <p:cNvSpPr/>
          <p:nvPr/>
        </p:nvSpPr>
        <p:spPr>
          <a:xfrm>
            <a:off x="457200" y="2834640"/>
            <a:ext cx="3657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5400">
            <a:solidFill>
              <a:srgbClr val="E8A33D"/>
            </a:solidFill>
            <a:prstDash val="solid"/>
          </a:ln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3" name="Text 19"/>
          <p:cNvSpPr/>
          <p:nvPr/>
        </p:nvSpPr>
        <p:spPr>
          <a:xfrm>
            <a:off x="594360" y="29443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K-Means Clustering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20"/>
          <p:cNvSpPr/>
          <p:nvPr/>
        </p:nvSpPr>
        <p:spPr>
          <a:xfrm>
            <a:off x="594360" y="3383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4450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Student Groups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21"/>
          <p:cNvSpPr/>
          <p:nvPr/>
        </p:nvSpPr>
        <p:spPr>
          <a:xfrm>
            <a:off x="4334256" y="2834640"/>
            <a:ext cx="3657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5400">
            <a:solidFill>
              <a:srgbClr val="E8A33D"/>
            </a:solidFill>
            <a:prstDash val="solid"/>
          </a:ln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6" name="Text 22"/>
          <p:cNvSpPr/>
          <p:nvPr/>
        </p:nvSpPr>
        <p:spPr>
          <a:xfrm>
            <a:off x="4471416" y="29443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Decision Tree Classification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23"/>
          <p:cNvSpPr/>
          <p:nvPr/>
        </p:nvSpPr>
        <p:spPr>
          <a:xfrm>
            <a:off x="4471416" y="3383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4450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Satisfaction Prediction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24"/>
          <p:cNvSpPr/>
          <p:nvPr/>
        </p:nvSpPr>
        <p:spPr>
          <a:xfrm>
            <a:off x="8211312" y="2834640"/>
            <a:ext cx="3657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5400">
            <a:solidFill>
              <a:srgbClr val="E8A33D"/>
            </a:solidFill>
            <a:prstDash val="solid"/>
          </a:ln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9" name="Text 25"/>
          <p:cNvSpPr/>
          <p:nvPr/>
        </p:nvSpPr>
        <p:spPr>
          <a:xfrm>
            <a:off x="8348472" y="29443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Happiness Index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26"/>
          <p:cNvSpPr/>
          <p:nvPr/>
        </p:nvSpPr>
        <p:spPr>
          <a:xfrm>
            <a:off x="8348472" y="3383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4450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0–100 Score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27"/>
          <p:cNvSpPr/>
          <p:nvPr/>
        </p:nvSpPr>
        <p:spPr>
          <a:xfrm>
            <a:off x="457200" y="3840480"/>
            <a:ext cx="11247120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▼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28"/>
          <p:cNvSpPr/>
          <p:nvPr/>
        </p:nvSpPr>
        <p:spPr>
          <a:xfrm>
            <a:off x="457200" y="4160520"/>
            <a:ext cx="5532120" cy="685800"/>
          </a:xfrm>
          <a:prstGeom prst="roundRect">
            <a:avLst>
              <a:gd name="adj" fmla="val 10667"/>
            </a:avLst>
          </a:prstGeom>
          <a:solidFill>
            <a:srgbClr val="141A47"/>
          </a:solidFill>
          <a:ln/>
        </p:spPr>
      </p:sp>
      <p:sp>
        <p:nvSpPr>
          <p:cNvPr id="53" name="Text 29"/>
          <p:cNvSpPr/>
          <p:nvPr/>
        </p:nvSpPr>
        <p:spPr>
          <a:xfrm>
            <a:off x="457200" y="4160520"/>
            <a:ext cx="5532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Interactive Dashboard (Gradio)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30"/>
          <p:cNvSpPr/>
          <p:nvPr/>
        </p:nvSpPr>
        <p:spPr>
          <a:xfrm>
            <a:off x="6007608" y="4160520"/>
            <a:ext cx="182880" cy="6858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▶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31"/>
          <p:cNvSpPr/>
          <p:nvPr/>
        </p:nvSpPr>
        <p:spPr>
          <a:xfrm>
            <a:off x="6208776" y="4160520"/>
            <a:ext cx="5532120" cy="685800"/>
          </a:xfrm>
          <a:prstGeom prst="roundRect">
            <a:avLst>
              <a:gd name="adj" fmla="val 10667"/>
            </a:avLst>
          </a:prstGeom>
          <a:solidFill>
            <a:srgbClr val="E8A33D"/>
          </a:solidFill>
          <a:ln/>
        </p:spPr>
      </p:sp>
      <p:sp>
        <p:nvSpPr>
          <p:cNvPr id="56" name="Text 32"/>
          <p:cNvSpPr/>
          <p:nvPr/>
        </p:nvSpPr>
        <p:spPr>
          <a:xfrm>
            <a:off x="6208776" y="4160520"/>
            <a:ext cx="5532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Insights &amp; Action Plan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722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06 · WORKFLOW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 / 16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Campus Analytics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3"/>
          <p:cNvSpPr/>
          <p:nvPr/>
        </p:nvSpPr>
        <p:spPr>
          <a:xfrm>
            <a:off x="472440" y="1237278"/>
            <a:ext cx="5394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"/>
          <p:cNvSpPr/>
          <p:nvPr/>
        </p:nvSpPr>
        <p:spPr>
          <a:xfrm>
            <a:off x="600456" y="129214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5"/>
          <p:cNvSpPr/>
          <p:nvPr/>
        </p:nvSpPr>
        <p:spPr>
          <a:xfrm>
            <a:off x="600456" y="1292142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6"/>
          <p:cNvSpPr/>
          <p:nvPr/>
        </p:nvSpPr>
        <p:spPr>
          <a:xfrm>
            <a:off x="1094232" y="1237278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Identification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7"/>
          <p:cNvSpPr/>
          <p:nvPr/>
        </p:nvSpPr>
        <p:spPr>
          <a:xfrm>
            <a:off x="472440" y="1804206"/>
            <a:ext cx="5394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8"/>
          <p:cNvSpPr/>
          <p:nvPr/>
        </p:nvSpPr>
        <p:spPr>
          <a:xfrm>
            <a:off x="600456" y="185907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9"/>
          <p:cNvSpPr/>
          <p:nvPr/>
        </p:nvSpPr>
        <p:spPr>
          <a:xfrm>
            <a:off x="600456" y="1859070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10"/>
          <p:cNvSpPr/>
          <p:nvPr/>
        </p:nvSpPr>
        <p:spPr>
          <a:xfrm>
            <a:off x="1094232" y="1804206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Define Scope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11"/>
          <p:cNvSpPr/>
          <p:nvPr/>
        </p:nvSpPr>
        <p:spPr>
          <a:xfrm>
            <a:off x="472440" y="2371134"/>
            <a:ext cx="5394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12"/>
          <p:cNvSpPr/>
          <p:nvPr/>
        </p:nvSpPr>
        <p:spPr>
          <a:xfrm>
            <a:off x="600456" y="242599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13"/>
          <p:cNvSpPr/>
          <p:nvPr/>
        </p:nvSpPr>
        <p:spPr>
          <a:xfrm>
            <a:off x="600456" y="2425998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14"/>
          <p:cNvSpPr/>
          <p:nvPr/>
        </p:nvSpPr>
        <p:spPr>
          <a:xfrm>
            <a:off x="1094232" y="2371134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Collection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Shape 15"/>
          <p:cNvSpPr/>
          <p:nvPr/>
        </p:nvSpPr>
        <p:spPr>
          <a:xfrm>
            <a:off x="472440" y="2938062"/>
            <a:ext cx="5394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16"/>
          <p:cNvSpPr/>
          <p:nvPr/>
        </p:nvSpPr>
        <p:spPr>
          <a:xfrm>
            <a:off x="600456" y="299292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17"/>
          <p:cNvSpPr/>
          <p:nvPr/>
        </p:nvSpPr>
        <p:spPr>
          <a:xfrm>
            <a:off x="600456" y="2992926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18"/>
          <p:cNvSpPr/>
          <p:nvPr/>
        </p:nvSpPr>
        <p:spPr>
          <a:xfrm>
            <a:off x="1094232" y="2938062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Cleaning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Shape 19"/>
          <p:cNvSpPr/>
          <p:nvPr/>
        </p:nvSpPr>
        <p:spPr>
          <a:xfrm>
            <a:off x="472440" y="3504990"/>
            <a:ext cx="5394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hape 20"/>
          <p:cNvSpPr/>
          <p:nvPr/>
        </p:nvSpPr>
        <p:spPr>
          <a:xfrm>
            <a:off x="600456" y="355985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21"/>
          <p:cNvSpPr/>
          <p:nvPr/>
        </p:nvSpPr>
        <p:spPr>
          <a:xfrm>
            <a:off x="600456" y="3559854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22"/>
          <p:cNvSpPr/>
          <p:nvPr/>
        </p:nvSpPr>
        <p:spPr>
          <a:xfrm>
            <a:off x="1094232" y="350499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Exploratory Data Analysis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Shape 23"/>
          <p:cNvSpPr/>
          <p:nvPr/>
        </p:nvSpPr>
        <p:spPr>
          <a:xfrm>
            <a:off x="472440" y="4071918"/>
            <a:ext cx="5394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hape 24"/>
          <p:cNvSpPr/>
          <p:nvPr/>
        </p:nvSpPr>
        <p:spPr>
          <a:xfrm>
            <a:off x="600456" y="412678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25"/>
          <p:cNvSpPr/>
          <p:nvPr/>
        </p:nvSpPr>
        <p:spPr>
          <a:xfrm>
            <a:off x="600456" y="4126782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 26"/>
          <p:cNvSpPr/>
          <p:nvPr/>
        </p:nvSpPr>
        <p:spPr>
          <a:xfrm>
            <a:off x="1094232" y="4071918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 Selection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Shape 27"/>
          <p:cNvSpPr/>
          <p:nvPr/>
        </p:nvSpPr>
        <p:spPr>
          <a:xfrm>
            <a:off x="6233160" y="1237278"/>
            <a:ext cx="5394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Shape 28"/>
          <p:cNvSpPr/>
          <p:nvPr/>
        </p:nvSpPr>
        <p:spPr>
          <a:xfrm>
            <a:off x="6361176" y="129214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 29"/>
          <p:cNvSpPr/>
          <p:nvPr/>
        </p:nvSpPr>
        <p:spPr>
          <a:xfrm>
            <a:off x="6361176" y="1292142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 30"/>
          <p:cNvSpPr/>
          <p:nvPr/>
        </p:nvSpPr>
        <p:spPr>
          <a:xfrm>
            <a:off x="6854952" y="1237278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Machine Learning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Shape 31"/>
          <p:cNvSpPr/>
          <p:nvPr/>
        </p:nvSpPr>
        <p:spPr>
          <a:xfrm>
            <a:off x="6233160" y="1804206"/>
            <a:ext cx="5394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Shape 32"/>
          <p:cNvSpPr/>
          <p:nvPr/>
        </p:nvSpPr>
        <p:spPr>
          <a:xfrm>
            <a:off x="6361176" y="185907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 33"/>
          <p:cNvSpPr/>
          <p:nvPr/>
        </p:nvSpPr>
        <p:spPr>
          <a:xfrm>
            <a:off x="6361176" y="1859070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 34"/>
          <p:cNvSpPr/>
          <p:nvPr/>
        </p:nvSpPr>
        <p:spPr>
          <a:xfrm>
            <a:off x="6854952" y="1804206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Visualization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Shape 35"/>
          <p:cNvSpPr/>
          <p:nvPr/>
        </p:nvSpPr>
        <p:spPr>
          <a:xfrm>
            <a:off x="6233160" y="2371134"/>
            <a:ext cx="5394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Shape 36"/>
          <p:cNvSpPr/>
          <p:nvPr/>
        </p:nvSpPr>
        <p:spPr>
          <a:xfrm>
            <a:off x="6361176" y="242599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 37"/>
          <p:cNvSpPr/>
          <p:nvPr/>
        </p:nvSpPr>
        <p:spPr>
          <a:xfrm>
            <a:off x="6361176" y="2425998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 38"/>
          <p:cNvSpPr/>
          <p:nvPr/>
        </p:nvSpPr>
        <p:spPr>
          <a:xfrm>
            <a:off x="6854952" y="2371134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Dashboard Development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Shape 39"/>
          <p:cNvSpPr/>
          <p:nvPr/>
        </p:nvSpPr>
        <p:spPr>
          <a:xfrm>
            <a:off x="6233160" y="2938062"/>
            <a:ext cx="5394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Shape 40"/>
          <p:cNvSpPr/>
          <p:nvPr/>
        </p:nvSpPr>
        <p:spPr>
          <a:xfrm>
            <a:off x="6361176" y="299292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 41"/>
          <p:cNvSpPr/>
          <p:nvPr/>
        </p:nvSpPr>
        <p:spPr>
          <a:xfrm>
            <a:off x="6361176" y="2992926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 42"/>
          <p:cNvSpPr/>
          <p:nvPr/>
        </p:nvSpPr>
        <p:spPr>
          <a:xfrm>
            <a:off x="6854952" y="2938062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Action Plan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Shape 43"/>
          <p:cNvSpPr/>
          <p:nvPr/>
        </p:nvSpPr>
        <p:spPr>
          <a:xfrm>
            <a:off x="6233160" y="3504990"/>
            <a:ext cx="5394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Shape 44"/>
          <p:cNvSpPr/>
          <p:nvPr/>
        </p:nvSpPr>
        <p:spPr>
          <a:xfrm>
            <a:off x="6361176" y="355985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 45"/>
          <p:cNvSpPr/>
          <p:nvPr/>
        </p:nvSpPr>
        <p:spPr>
          <a:xfrm>
            <a:off x="6361176" y="3559854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 46"/>
          <p:cNvSpPr/>
          <p:nvPr/>
        </p:nvSpPr>
        <p:spPr>
          <a:xfrm>
            <a:off x="6854952" y="350499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Shape 47"/>
          <p:cNvSpPr/>
          <p:nvPr/>
        </p:nvSpPr>
        <p:spPr>
          <a:xfrm>
            <a:off x="472440" y="5001768"/>
            <a:ext cx="1124712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Text 48"/>
          <p:cNvSpPr/>
          <p:nvPr/>
        </p:nvSpPr>
        <p:spPr>
          <a:xfrm>
            <a:off x="746760" y="491490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 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understand student experience gaps.   </a:t>
            </a:r>
            <a:r>
              <a:rPr lang="en-US" sz="1600" b="1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Mining  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apply K-Means and Decision Tree.   </a:t>
            </a:r>
            <a:r>
              <a:rPr lang="en-US" sz="1600" b="1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Output  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dashboard, insights and recommendations.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07 · TECHNOLOGY USED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76072" y="829266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Tools &amp; Libraries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AFCFC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 / 16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FCFC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Campus Analytics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3"/>
          <p:cNvSpPr/>
          <p:nvPr/>
        </p:nvSpPr>
        <p:spPr>
          <a:xfrm>
            <a:off x="678548" y="18288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1" name="Shape 4"/>
          <p:cNvSpPr/>
          <p:nvPr/>
        </p:nvSpPr>
        <p:spPr>
          <a:xfrm>
            <a:off x="1730108" y="199339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2" name="Text 5"/>
          <p:cNvSpPr/>
          <p:nvPr/>
        </p:nvSpPr>
        <p:spPr>
          <a:xfrm>
            <a:off x="1730108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6"/>
          <p:cNvSpPr/>
          <p:nvPr/>
        </p:nvSpPr>
        <p:spPr>
          <a:xfrm>
            <a:off x="769988" y="257860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Python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7"/>
          <p:cNvSpPr/>
          <p:nvPr/>
        </p:nvSpPr>
        <p:spPr>
          <a:xfrm>
            <a:off x="769988" y="286207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450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Main programming language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8"/>
          <p:cNvSpPr/>
          <p:nvPr/>
        </p:nvSpPr>
        <p:spPr>
          <a:xfrm>
            <a:off x="3467468" y="18288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6" name="Shape 9"/>
          <p:cNvSpPr/>
          <p:nvPr/>
        </p:nvSpPr>
        <p:spPr>
          <a:xfrm>
            <a:off x="4519028" y="199339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7" name="Text 10"/>
          <p:cNvSpPr/>
          <p:nvPr/>
        </p:nvSpPr>
        <p:spPr>
          <a:xfrm>
            <a:off x="4519028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11"/>
          <p:cNvSpPr/>
          <p:nvPr/>
        </p:nvSpPr>
        <p:spPr>
          <a:xfrm>
            <a:off x="3558908" y="257860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Google Colab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12"/>
          <p:cNvSpPr/>
          <p:nvPr/>
        </p:nvSpPr>
        <p:spPr>
          <a:xfrm>
            <a:off x="3558908" y="286207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450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Development environment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13"/>
          <p:cNvSpPr/>
          <p:nvPr/>
        </p:nvSpPr>
        <p:spPr>
          <a:xfrm>
            <a:off x="6256388" y="18288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1" name="Shape 14"/>
          <p:cNvSpPr/>
          <p:nvPr/>
        </p:nvSpPr>
        <p:spPr>
          <a:xfrm>
            <a:off x="7307948" y="199339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2" name="Text 15"/>
          <p:cNvSpPr/>
          <p:nvPr/>
        </p:nvSpPr>
        <p:spPr>
          <a:xfrm>
            <a:off x="7307948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16"/>
          <p:cNvSpPr/>
          <p:nvPr/>
        </p:nvSpPr>
        <p:spPr>
          <a:xfrm>
            <a:off x="6347828" y="257860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Excel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17"/>
          <p:cNvSpPr/>
          <p:nvPr/>
        </p:nvSpPr>
        <p:spPr>
          <a:xfrm>
            <a:off x="6347828" y="286207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450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source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18"/>
          <p:cNvSpPr/>
          <p:nvPr/>
        </p:nvSpPr>
        <p:spPr>
          <a:xfrm>
            <a:off x="9045308" y="18288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6" name="Shape 19"/>
          <p:cNvSpPr/>
          <p:nvPr/>
        </p:nvSpPr>
        <p:spPr>
          <a:xfrm>
            <a:off x="10096868" y="199339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7" name="Text 20"/>
          <p:cNvSpPr/>
          <p:nvPr/>
        </p:nvSpPr>
        <p:spPr>
          <a:xfrm>
            <a:off x="10096868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21"/>
          <p:cNvSpPr/>
          <p:nvPr/>
        </p:nvSpPr>
        <p:spPr>
          <a:xfrm>
            <a:off x="9136748" y="257860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Pandas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22"/>
          <p:cNvSpPr/>
          <p:nvPr/>
        </p:nvSpPr>
        <p:spPr>
          <a:xfrm>
            <a:off x="9136748" y="286207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450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processing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23"/>
          <p:cNvSpPr/>
          <p:nvPr/>
        </p:nvSpPr>
        <p:spPr>
          <a:xfrm>
            <a:off x="678548" y="33832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1" name="Shape 24"/>
          <p:cNvSpPr/>
          <p:nvPr/>
        </p:nvSpPr>
        <p:spPr>
          <a:xfrm>
            <a:off x="1730108" y="354787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2" name="Text 25"/>
          <p:cNvSpPr/>
          <p:nvPr/>
        </p:nvSpPr>
        <p:spPr>
          <a:xfrm>
            <a:off x="1730108" y="3547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26"/>
          <p:cNvSpPr/>
          <p:nvPr/>
        </p:nvSpPr>
        <p:spPr>
          <a:xfrm>
            <a:off x="769988" y="413308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NumPy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27"/>
          <p:cNvSpPr/>
          <p:nvPr/>
        </p:nvSpPr>
        <p:spPr>
          <a:xfrm>
            <a:off x="769988" y="441655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450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Numerical operations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28"/>
          <p:cNvSpPr/>
          <p:nvPr/>
        </p:nvSpPr>
        <p:spPr>
          <a:xfrm>
            <a:off x="3467468" y="33832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6" name="Shape 29"/>
          <p:cNvSpPr/>
          <p:nvPr/>
        </p:nvSpPr>
        <p:spPr>
          <a:xfrm>
            <a:off x="4519028" y="354787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7" name="Text 30"/>
          <p:cNvSpPr/>
          <p:nvPr/>
        </p:nvSpPr>
        <p:spPr>
          <a:xfrm>
            <a:off x="4519028" y="3547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31"/>
          <p:cNvSpPr/>
          <p:nvPr/>
        </p:nvSpPr>
        <p:spPr>
          <a:xfrm>
            <a:off x="3558908" y="413308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Scikit-learn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32"/>
          <p:cNvSpPr/>
          <p:nvPr/>
        </p:nvSpPr>
        <p:spPr>
          <a:xfrm>
            <a:off x="3558908" y="441655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450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Machine learning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Shape 33"/>
          <p:cNvSpPr/>
          <p:nvPr/>
        </p:nvSpPr>
        <p:spPr>
          <a:xfrm>
            <a:off x="6256388" y="33832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1" name="Shape 34"/>
          <p:cNvSpPr/>
          <p:nvPr/>
        </p:nvSpPr>
        <p:spPr>
          <a:xfrm>
            <a:off x="7307948" y="354787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2" name="Text 35"/>
          <p:cNvSpPr/>
          <p:nvPr/>
        </p:nvSpPr>
        <p:spPr>
          <a:xfrm>
            <a:off x="7307948" y="3547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7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36"/>
          <p:cNvSpPr/>
          <p:nvPr/>
        </p:nvSpPr>
        <p:spPr>
          <a:xfrm>
            <a:off x="6347828" y="413308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Plotly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37"/>
          <p:cNvSpPr/>
          <p:nvPr/>
        </p:nvSpPr>
        <p:spPr>
          <a:xfrm>
            <a:off x="6347828" y="441655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450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Interactive visualization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hape 38"/>
          <p:cNvSpPr/>
          <p:nvPr/>
        </p:nvSpPr>
        <p:spPr>
          <a:xfrm>
            <a:off x="9045308" y="33832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508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6" name="Shape 39"/>
          <p:cNvSpPr/>
          <p:nvPr/>
        </p:nvSpPr>
        <p:spPr>
          <a:xfrm>
            <a:off x="10096868" y="354787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7" name="Text 40"/>
          <p:cNvSpPr/>
          <p:nvPr/>
        </p:nvSpPr>
        <p:spPr>
          <a:xfrm>
            <a:off x="10096868" y="3547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8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 41"/>
          <p:cNvSpPr/>
          <p:nvPr/>
        </p:nvSpPr>
        <p:spPr>
          <a:xfrm>
            <a:off x="9136748" y="413308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Gradio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 42"/>
          <p:cNvSpPr/>
          <p:nvPr/>
        </p:nvSpPr>
        <p:spPr>
          <a:xfrm>
            <a:off x="9136748" y="441655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450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Interactive dashboard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Shape 43"/>
          <p:cNvSpPr/>
          <p:nvPr/>
        </p:nvSpPr>
        <p:spPr>
          <a:xfrm>
            <a:off x="457200" y="5166360"/>
            <a:ext cx="11247120" cy="1051560"/>
          </a:xfrm>
          <a:prstGeom prst="roundRect">
            <a:avLst>
              <a:gd name="adj" fmla="val 8696"/>
            </a:avLst>
          </a:prstGeom>
          <a:noFill/>
          <a:ln/>
        </p:spPr>
      </p:sp>
      <p:sp>
        <p:nvSpPr>
          <p:cNvPr id="72" name="Text 44"/>
          <p:cNvSpPr/>
          <p:nvPr/>
        </p:nvSpPr>
        <p:spPr>
          <a:xfrm>
            <a:off x="777240" y="533095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MACHINE LEARNING TECHNIQUES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45"/>
          <p:cNvSpPr/>
          <p:nvPr/>
        </p:nvSpPr>
        <p:spPr>
          <a:xfrm>
            <a:off x="777240" y="5623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K-Means Clustering   •   Decision Tree Classification   •   StandardScaler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08 · IMPLEMENTATION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830303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F2D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Live Dashboard Tab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46618" y="1876096"/>
            <a:ext cx="7286823" cy="4204664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5" name="Shape 3"/>
          <p:cNvSpPr/>
          <p:nvPr/>
        </p:nvSpPr>
        <p:spPr>
          <a:xfrm>
            <a:off x="487943" y="1985937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87943" y="1985937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📊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73743" y="2059089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 Administrators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943" y="2671736"/>
            <a:ext cx="6604175" cy="33832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Department filter (All / B.Tech / BCA / BSc / M.Tech / MCA / MSc)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Headline metrics: student count, average rating, happiness index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Horizontal bar chart of facility-by-facility satisfaction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Pie chart of Very Happy / Happy / Neutral / Needs Improvement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Auto-generated improvement suggestions per weak facility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086600" y="24231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gr.Blocks()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6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 / 16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Campus Analytics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/>
          <a:srcRect t="-2000" r="15052" b="-1"/>
          <a:stretch/>
        </p:blipFill>
        <p:spPr>
          <a:xfrm>
            <a:off x="7349667" y="0"/>
            <a:ext cx="4880433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36590" cy="362590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625908"/>
            <a:ext cx="5836590" cy="32320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780" y="0"/>
            <a:ext cx="5951220" cy="362590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780" y="3625909"/>
            <a:ext cx="5600700" cy="323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296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08 · IMPLEMENTATION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D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Student Analysis Tab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867400" cy="434340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🎓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54480" y="208483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 Students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5669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student rates all 11 facilities on 1-5 sliders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 computes their personal Happiness score instantly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Status returned: Very Happy / Happy / Neutral / Needs Improvement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Any facility rated ≤ 2 is flagged as a low area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Targeted recommendation text generated automatically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13 / 16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Campus Analytics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157" y="1417320"/>
            <a:ext cx="4942143" cy="4663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09 · RESULTS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D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Key Findings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14 / 16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Campus Analytics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"/>
          <p:cNvSpPr>
            <a:spLocks noChangeArrowheads="1"/>
          </p:cNvSpPr>
          <p:nvPr/>
        </p:nvSpPr>
        <p:spPr bwMode="auto">
          <a:xfrm>
            <a:off x="457200" y="1417320"/>
            <a:ext cx="1129777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Happiness Index – 65.1/100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overall student experience is at a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moderate satisfaction level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Accuracy – 93.1%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achieved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93.1% accuracy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classifying students as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Satisfied or Not Satisfied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Majority are Moderately Satisfied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largest group is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Moderate Satisfaction (70 students)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followed by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Satisfaction (59)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Satisfaction (16)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Clubs are the Strongest Decision-Tree Driver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Clubs have the highest feature importance (49%)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they are the strongest predictor among the features used by the model.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Wi-Fi is a Major Improvement Area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Wi-Fi has the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lowest average facility rating (3.04/5)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making it an important area for improvement.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Other Important Drivers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Decision Tree also identified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Cafeteria (18%), Safety (10%), Library (9%), and Transport (8%)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 important features.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 · DISCUSSION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76072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D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What the Results Tell Us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92024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9339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63040" y="19385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Wi-Fi is the weakest facility overall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556536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Lowest average rating (3.04/5) — a broad, widely-felt pain point across nearly every department.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94960" cy="192024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99339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132320" y="19385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But Clubs drives the outcome most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92240" y="2557167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Decision Tree ranks Clubs as by far the strongest predictor (49% importance) of whether a student is satisfied — bigger than Wi-Fi's effect.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94960" cy="192024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14223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63040" y="40873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large "movable middle" exists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46688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70 of 145 students fall in the Moderate Satisfaction cluster — the group most likely to shift with targeted improvements.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394960" cy="192024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414223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132320" y="40873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 classifier confidence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92240" y="4735331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93.1% accuracy shows the 11 facility ratings capture most of what determines overall satisfaction.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15 / 16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E6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Campus Analytics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FUTURE SCOPE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199" y="1087821"/>
            <a:ext cx="10357945" cy="4718619"/>
          </a:xfrm>
          <a:prstGeom prst="rect">
            <a:avLst/>
          </a:prstGeom>
          <a:solidFill>
            <a:srgbClr val="0A4B52"/>
          </a:solidFill>
          <a:ln/>
        </p:spPr>
        <p:txBody>
          <a:bodyPr/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 Sentiment Analysis</a:t>
            </a: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Analyze students' written feedback and identify positive or negative sentiments.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Tracking</a:t>
            </a: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Collect feedback every semester to track changes in student satisfaction over time.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Dashboard</a:t>
            </a: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Connect the dashboard to updated survey data for continuous monitoring.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Early-Alert System</a:t>
            </a: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Automatically identify low-satisfaction student groups that may need attention.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&amp; Semester Analysis</a:t>
            </a: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Compare satisfaction across departments and semesters in greater detail.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 Deployment</a:t>
            </a: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Deploy the system for actual university use with secure access and regularly updated data. </a:t>
            </a:r>
          </a:p>
          <a:p>
            <a:pPr algn="just">
              <a:lnSpc>
                <a:spcPct val="150000"/>
              </a:lnSpc>
            </a:pPr>
            <a:endParaRPr lang="en-IN" sz="1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7240" y="475488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Campus Analytics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9944" y="1844040"/>
            <a:ext cx="731520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15" name="Text 13"/>
          <p:cNvSpPr/>
          <p:nvPr/>
        </p:nvSpPr>
        <p:spPr>
          <a:xfrm>
            <a:off x="777240" y="475488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Campus Analytics</a:t>
            </a:r>
            <a:endParaRPr 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6B2B31-27B4-E296-07A3-2A51A4057A37}"/>
              </a:ext>
            </a:extLst>
          </p:cNvPr>
          <p:cNvSpPr txBox="1"/>
          <p:nvPr/>
        </p:nvSpPr>
        <p:spPr>
          <a:xfrm>
            <a:off x="1554480" y="3505200"/>
            <a:ext cx="1882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Link @17</a:t>
            </a:r>
            <a:endParaRPr lang="en-US" dirty="0">
              <a:solidFill>
                <a:schemeClr val="bg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3345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1847</Words>
  <Application>Microsoft Office PowerPoint</Application>
  <PresentationFormat>Widescreen</PresentationFormat>
  <Paragraphs>442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Cambria</vt:lpstr>
      <vt:lpstr>Roboto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lprajwal@outlook.com</cp:lastModifiedBy>
  <cp:revision>24</cp:revision>
  <dcterms:created xsi:type="dcterms:W3CDTF">2026-08-18T06:27:02Z</dcterms:created>
  <dcterms:modified xsi:type="dcterms:W3CDTF">2026-08-19T14:55:58Z</dcterms:modified>
</cp:coreProperties>
</file>